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60" r:id="rId9"/>
    <p:sldId id="259" r:id="rId8"/>
    <p:sldId id="261" r:id="rId10"/>
    <p:sldId id="262" r:id="rId11"/>
    <p:sldId id="263" r:id="rId12"/>
    <p:sldId id="264" r:id="rId13"/>
    <p:sldId id="265" r:id="rId14"/>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5.xml"/><Relationship Id="rId9" Type="http://schemas.openxmlformats.org/officeDocument/2006/relationships/slide" Target="slides/slide4.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Verity: Nyx Foundation's project to build the most secure Lean Consensus client. Key idea: mathematical proof and real code meet in one system.</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 name="Shape 18"/>
        <p:cNvGrpSpPr/>
        <p:nvPr/>
      </p:nvGrpSpPr>
      <p:grpSpPr>
        <a:xfrm>
          <a:off x="0" y="0"/>
          <a:ext cx="0" cy="0"/>
          <a:chOff x="0" y="0"/>
          <a:chExt cx="0" cy="0"/>
        </a:xfrm>
      </p:grpSpPr>
      <p:sp>
        <p:nvSpPr>
          <p:cNvPr id="19" name="Google Shape;1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 name="Google Shape;2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Verity is a Lean Consensus client. Its core design philosophy is to remove the drift between the specification and the implementation. The backend runs consensus logic that is formally verified as far as possible. The approach is inspired by Cardano.</a:t>
            </a:r>
            <a:endParaRPr/>
          </a:p>
        </p:txBody>
      </p:sp>
      <p:sp>
        <p:nvSpPr>
          <p:cNvPr id="21" name="Google Shape;2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 name="Google Shape;2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languages: Lean is the brain (core logic, proven, pure functions); Rust is the body (fast, safe, everything else). The diagram shows Rust on top, Lean at the bottom, joined by a thin FFI adapter - the boundary we design most carefully.</a:t>
            </a:r>
            <a:endParaRPr/>
          </a:p>
        </p:txBody>
      </p:sp>
      <p:sp>
        <p:nvSpPr>
          <p:cNvPr id="29" name="Google Shape;2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 name="Google Shape;4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hardest part is the FFI bridge: it must be safe and efficient. Three issues - performance (runtime startup overhead), memory safety (reference counting vs Rust), interfaces (basic types can't cross directly). Rule: few calls, simple data.</a:t>
            </a:r>
            <a:endParaRPr/>
          </a:p>
        </p:txBody>
      </p:sp>
      <p:sp>
        <p:nvSpPr>
          <p:cNvPr id="41" name="Google Shape;4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 name="Google Shape;4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benchmarked the full state transition over the FFI — with a real SHA-256 hash_tree_root and 8 valid attestations. Up to the leanSpec maximum of 4096 validators it stays well under the 200-millisecond SLO — about 26 milliseconds at the cap, roughly 8 times under budget.</a:t>
            </a:r>
            <a:endParaRPr/>
          </a:p>
        </p:txBody>
      </p:sp>
      <p:sp>
        <p:nvSpPr>
          <p:cNvPr id="48" name="Google Shape;4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Finally, the bigger goal, shown in this diagram. The proofs we write aren't only for Verity - they're meant to be shared across all of Lean Consensus. The shared lean Consensus spec (translated from the Python leanSpec into Lean) sits at the top, and every client - Ream, Zeam, Verity, and others - connects to it. Each client only needs to prove its own functional correctness against that shared spec. So our real aim is stronger security for the whole Ethereum ecosystem, not just one client. This is still conceptual, so please read the full post and share your feedback. Thank you.</a:t>
            </a:r>
            <a:endParaRPr/>
          </a:p>
        </p:txBody>
      </p:sp>
      <p:sp>
        <p:nvSpPr>
          <p:cNvPr id="55" name="Google Shape;5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 name="Google Shape;6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Where we are now - three repositories are already public. formal-leanSpec re-defines the Lean Consensus spec in Lean. goldfish-fv works on guaranteeing the safety of the Goldfish protocol. And verifiable-stf is a proof of concept for running a zkVM guest program in Lean. Thank you.</a:t>
            </a:r>
            <a:endParaRPr/>
          </a:p>
        </p:txBody>
      </p:sp>
      <p:sp>
        <p:nvSpPr>
          <p:cNvPr id="62" name="Google Shape;6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 name="Google Shape;7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The state-transition cost splits into a fixed baseline of about 0.30 ms (V-independent floor) plus a linear term of about 6.3 microseconds per validator (O(A*V) work plus hash_tree_root merkleization). The two cross over near V=48; above that, the linear term dominates.</a:t>
            </a:r>
            <a:endParaRPr/>
          </a:p>
        </p:txBody>
      </p:sp>
      <p:sp>
        <p:nvSpPr>
          <p:cNvPr id="73" name="Google Shape;7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 name="Google Shape;7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The same benchmark with a mainnet-scale V=1,000,000 reference point added. That point is out of spec for leanSpec (cap 4096) and takes about 14.6 seconds, over the 200 ms budget — shown only for context.</a:t>
            </a:r>
            <a:endParaRPr/>
          </a:p>
        </p:txBody>
      </p:sp>
      <p:sp>
        <p:nvSpPr>
          <p:cNvPr id="80" name="Google Shape;8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s://github.com/NyxFoundation/formal-leanSpec" TargetMode="External"/><Relationship Id="rId4" Type="http://schemas.openxmlformats.org/officeDocument/2006/relationships/hyperlink" Target="https://github.com/NyxFoundation/goldfish-fv" TargetMode="External"/><Relationship Id="rId5" Type="http://schemas.openxmlformats.org/officeDocument/2006/relationships/hyperlink" Target="https://github.com/NyxFoundation/verifiable-stf" TargetMode="External"/><Relationship Id="rId6" Type="http://schemas.openxmlformats.org/officeDocument/2006/relationships/image" Target="../media/image2.png"/><Relationship Id="rId7" Type="http://schemas.openxmlformats.org/officeDocument/2006/relationships/hyperlink" Target="https://verityclient.com/" TargetMode="External"/><Relationship Id="rId8" Type="http://schemas.openxmlformats.org/officeDocument/2006/relationships/hyperlink" Target="https://verityclient.com/" TargetMode="External"/><Relationship Id="rId9"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sp>
        <p:nvSpPr>
          <p:cNvPr id="16" name="Google Shape;16;p3"/>
          <p:cNvSpPr/>
          <p:nvPr/>
        </p:nvSpPr>
        <p:spPr>
          <a:xfrm>
            <a:off x="640080" y="2194560"/>
            <a:ext cx="795528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3800"/>
              <a:buFont typeface="Calibri"/>
              <a:buNone/>
            </a:pPr>
            <a:r>
              <a:rPr b="1" i="0" lang="en-US" sz="3800" u="none" cap="none" strike="noStrike">
                <a:solidFill>
                  <a:srgbClr val="1A1A1A"/>
                </a:solidFill>
                <a:latin typeface="Calibri"/>
                <a:ea typeface="Calibri"/>
                <a:cs typeface="Calibri"/>
                <a:sym typeface="Calibri"/>
              </a:rPr>
              <a:t>Ethproofs call #9 - Verity Client</a:t>
            </a:r>
            <a:endParaRPr b="0" i="0" sz="3800" u="none" cap="none" strike="noStrike">
              <a:solidFill>
                <a:schemeClr val="dk1"/>
              </a:solidFill>
              <a:latin typeface="Calibri"/>
              <a:ea typeface="Calibri"/>
              <a:cs typeface="Calibri"/>
              <a:sym typeface="Calibri"/>
            </a:endParaRPr>
          </a:p>
        </p:txBody>
      </p:sp>
      <p:sp>
        <p:nvSpPr>
          <p:cNvPr id="17" name="Google Shape;17;p3"/>
          <p:cNvSpPr/>
          <p:nvPr/>
        </p:nvSpPr>
        <p:spPr>
          <a:xfrm>
            <a:off x="658368" y="3200400"/>
            <a:ext cx="78638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88"/>
              </a:buClr>
              <a:buSzPts val="1800"/>
              <a:buFont typeface="Calibri"/>
              <a:buNone/>
            </a:pPr>
            <a:r>
              <a:rPr b="0" i="0" lang="en-US" sz="1800" u="none" cap="none" strike="noStrike">
                <a:solidFill>
                  <a:srgbClr val="888888"/>
                </a:solidFill>
                <a:latin typeface="Calibri"/>
                <a:ea typeface="Calibri"/>
                <a:cs typeface="Calibri"/>
                <a:sym typeface="Calibri"/>
              </a:rPr>
              <a:t>Shouki Tsuda  /  Nyx Foundation</a:t>
            </a:r>
            <a:endParaRPr b="0" i="0" sz="1800" u="none" cap="none" strike="noStrike">
              <a:solidFill>
                <a:schemeClr val="dk1"/>
              </a:solidFill>
              <a:latin typeface="Calibri"/>
              <a:ea typeface="Calibri"/>
              <a:cs typeface="Calibri"/>
              <a:sym typeface="Calibri"/>
            </a:endParaRPr>
          </a:p>
        </p:txBody>
      </p:sp>
      <p:pic>
        <p:nvPicPr>
          <p:cNvPr id="18" name="Picture 17" descr="nyx_logo.png"/>
          <p:cNvPicPr>
            <a:picLocks noChangeAspect="1"/>
          </p:cNvPicPr>
          <p:nvPr/>
        </p:nvPicPr>
        <p:blipFill>
          <a:blip r:embed="rId3"/>
          <a:stretch>
            <a:fillRect/>
          </a:stretch>
        </p:blipFill>
        <p:spPr>
          <a:xfrm>
            <a:off x="7406640" y="4568286"/>
            <a:ext cx="1463040" cy="31918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 name="Shape 22"/>
        <p:cNvGrpSpPr/>
        <p:nvPr/>
      </p:nvGrpSpPr>
      <p:grpSpPr>
        <a:xfrm>
          <a:off x="0" y="0"/>
          <a:ext cx="0" cy="0"/>
          <a:chOff x="0" y="0"/>
          <a:chExt cx="0" cy="0"/>
        </a:xfrm>
      </p:grpSpPr>
      <p:sp>
        <p:nvSpPr>
          <p:cNvPr id="23" name="Google Shape;23;p4"/>
          <p:cNvSpPr/>
          <p:nvPr/>
        </p:nvSpPr>
        <p:spPr>
          <a:xfrm>
            <a:off x="548640" y="457200"/>
            <a:ext cx="804672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3000"/>
              <a:buFont typeface="Calibri"/>
              <a:buNone/>
            </a:pPr>
            <a:r>
              <a:rPr b="1" i="0" lang="en-US" sz="3000" u="none" cap="none" strike="noStrike">
                <a:solidFill>
                  <a:srgbClr val="1A1A1A"/>
                </a:solidFill>
                <a:latin typeface="Calibri"/>
                <a:ea typeface="Calibri"/>
                <a:cs typeface="Calibri"/>
                <a:sym typeface="Calibri"/>
              </a:rPr>
              <a:t>What is Verity?</a:t>
            </a:r>
            <a:endParaRPr b="0" i="0" sz="3000" u="none" cap="none" strike="noStrike">
              <a:solidFill>
                <a:schemeClr val="dk1"/>
              </a:solidFill>
              <a:latin typeface="Calibri"/>
              <a:ea typeface="Calibri"/>
              <a:cs typeface="Calibri"/>
              <a:sym typeface="Calibri"/>
            </a:endParaRPr>
          </a:p>
        </p:txBody>
      </p:sp>
      <p:sp>
        <p:nvSpPr>
          <p:cNvPr id="24" name="Google Shape;24;p4"/>
          <p:cNvSpPr/>
          <p:nvPr/>
        </p:nvSpPr>
        <p:spPr>
          <a:xfrm>
            <a:off x="548640" y="1371600"/>
            <a:ext cx="4480560" cy="329184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10000"/>
              </a:lnSpc>
              <a:spcBef>
                <a:spcPts val="0"/>
              </a:spcBef>
              <a:spcAft>
                <a:spcPts val="0"/>
              </a:spcAft>
              <a:buClr>
                <a:srgbClr val="333333"/>
              </a:buClr>
              <a:buSzPts val="1600"/>
              <a:buFont typeface="Calibri"/>
              <a:buChar char="•"/>
            </a:pPr>
            <a:r>
              <a:rPr b="0" i="0" lang="en-US" sz="1600" u="none" cap="none" strike="noStrike">
                <a:solidFill>
                  <a:srgbClr val="333333"/>
                </a:solidFill>
                <a:latin typeface="Calibri"/>
                <a:ea typeface="Calibri"/>
                <a:cs typeface="Calibri"/>
                <a:sym typeface="Calibri"/>
              </a:rPr>
              <a:t>A Lean Consensus client</a:t>
            </a:r>
            <a:endParaRPr b="0" i="0" sz="1600" u="none" cap="none" strike="noStrike">
              <a:solidFill>
                <a:schemeClr val="dk1"/>
              </a:solidFill>
              <a:latin typeface="Calibri"/>
              <a:ea typeface="Calibri"/>
              <a:cs typeface="Calibri"/>
              <a:sym typeface="Calibri"/>
            </a:endParaRPr>
          </a:p>
          <a:p>
            <a:pPr indent="-342900" lvl="0" marL="342900" marR="0" rtl="0" algn="l">
              <a:lnSpc>
                <a:spcPct val="110000"/>
              </a:lnSpc>
              <a:spcBef>
                <a:spcPts val="1200"/>
              </a:spcBef>
              <a:spcAft>
                <a:spcPts val="0"/>
              </a:spcAft>
              <a:buClr>
                <a:srgbClr val="333333"/>
              </a:buClr>
              <a:buSzPts val="1600"/>
              <a:buFont typeface="Calibri"/>
              <a:buChar char="•"/>
            </a:pPr>
            <a:r>
              <a:rPr b="0" i="0" lang="en-US" sz="1600" u="none" cap="none" strike="noStrike">
                <a:solidFill>
                  <a:srgbClr val="333333"/>
                </a:solidFill>
                <a:latin typeface="Calibri"/>
                <a:ea typeface="Calibri"/>
                <a:cs typeface="Calibri"/>
                <a:sym typeface="Calibri"/>
              </a:rPr>
              <a:t>Mathematically align specification and implementation</a:t>
            </a:r>
            <a:endParaRPr b="0" i="0" sz="1600" u="none" cap="none" strike="noStrike">
              <a:solidFill>
                <a:schemeClr val="dk1"/>
              </a:solidFill>
              <a:latin typeface="Calibri"/>
              <a:ea typeface="Calibri"/>
              <a:cs typeface="Calibri"/>
              <a:sym typeface="Calibri"/>
            </a:endParaRPr>
          </a:p>
          <a:p>
            <a:pPr indent="-342900" lvl="0" marL="342900" marR="0" rtl="0" algn="l">
              <a:lnSpc>
                <a:spcPct val="110000"/>
              </a:lnSpc>
              <a:spcBef>
                <a:spcPts val="1200"/>
              </a:spcBef>
              <a:spcAft>
                <a:spcPts val="0"/>
              </a:spcAft>
              <a:buClr>
                <a:srgbClr val="333333"/>
              </a:buClr>
              <a:buSzPts val="1600"/>
              <a:buFont typeface="Calibri"/>
              <a:buChar char="•"/>
            </a:pPr>
            <a:r>
              <a:rPr b="0" i="0" lang="en-US" sz="1600" u="none" cap="none" strike="noStrike">
                <a:solidFill>
                  <a:srgbClr val="333333"/>
                </a:solidFill>
                <a:latin typeface="Calibri"/>
                <a:ea typeface="Calibri"/>
                <a:cs typeface="Calibri"/>
                <a:sym typeface="Calibri"/>
              </a:rPr>
              <a:t>Its backend runs consensus logic that is formally verified as far as possible</a:t>
            </a:r>
            <a:endParaRPr b="0" i="0" sz="1600" u="none" cap="none" strike="noStrike">
              <a:solidFill>
                <a:schemeClr val="dk1"/>
              </a:solidFill>
              <a:latin typeface="Calibri"/>
              <a:ea typeface="Calibri"/>
              <a:cs typeface="Calibri"/>
              <a:sym typeface="Calibri"/>
            </a:endParaRPr>
          </a:p>
          <a:p>
            <a:pPr indent="-342900" lvl="0" marL="342900" marR="0" rtl="0" algn="l">
              <a:lnSpc>
                <a:spcPct val="110000"/>
              </a:lnSpc>
              <a:spcBef>
                <a:spcPts val="1200"/>
              </a:spcBef>
              <a:spcAft>
                <a:spcPts val="0"/>
              </a:spcAft>
              <a:buClr>
                <a:srgbClr val="333333"/>
              </a:buClr>
              <a:buSzPts val="1600"/>
              <a:buFont typeface="Calibri"/>
              <a:buChar char="•"/>
            </a:pPr>
            <a:r>
              <a:rPr b="0" i="0" lang="en-US" sz="1600" u="none" cap="none" strike="noStrike">
                <a:solidFill>
                  <a:srgbClr val="333333"/>
                </a:solidFill>
                <a:latin typeface="Calibri"/>
                <a:ea typeface="Calibri"/>
                <a:cs typeface="Calibri"/>
                <a:sym typeface="Calibri"/>
              </a:rPr>
              <a:t>Inspired by Cardano</a:t>
            </a:r>
            <a:endParaRPr b="0" i="0" sz="1600" u="none" cap="none" strike="noStrike">
              <a:solidFill>
                <a:schemeClr val="dk1"/>
              </a:solidFill>
              <a:latin typeface="Calibri"/>
              <a:ea typeface="Calibri"/>
              <a:cs typeface="Calibri"/>
              <a:sym typeface="Calibri"/>
            </a:endParaRPr>
          </a:p>
        </p:txBody>
      </p:sp>
      <p:pic>
        <p:nvPicPr>
          <p:cNvPr descr="/home/claude/verity_logo.png" id="25" name="Google Shape;25;p4"/>
          <p:cNvPicPr preferRelativeResize="0"/>
          <p:nvPr/>
        </p:nvPicPr>
        <p:blipFill rotWithShape="1">
          <a:blip r:embed="rId3">
            <a:alphaModFix/>
          </a:blip>
          <a:srcRect b="0" l="0" r="0" t="0"/>
          <a:stretch/>
        </p:blipFill>
        <p:spPr>
          <a:xfrm>
            <a:off x="5394960" y="2057400"/>
            <a:ext cx="3108960" cy="1019000"/>
          </a:xfrm>
          <a:prstGeom prst="rect">
            <a:avLst/>
          </a:prstGeom>
          <a:noFill/>
          <a:ln>
            <a:noFill/>
          </a:ln>
        </p:spPr>
      </p:pic>
      <p:pic>
        <p:nvPicPr>
          <p:cNvPr id="26" name="Picture 25" descr="nyx_logo.png"/>
          <p:cNvPicPr>
            <a:picLocks noChangeAspect="1"/>
          </p:cNvPicPr>
          <p:nvPr/>
        </p:nvPicPr>
        <p:blipFill>
          <a:blip r:embed="rId4"/>
          <a:stretch>
            <a:fillRect/>
          </a:stretch>
        </p:blipFill>
        <p:spPr>
          <a:xfrm>
            <a:off x="7406640" y="4568286"/>
            <a:ext cx="1463040" cy="31918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 name="Shape 30"/>
        <p:cNvGrpSpPr/>
        <p:nvPr/>
      </p:nvGrpSpPr>
      <p:grpSpPr>
        <a:xfrm>
          <a:off x="0" y="0"/>
          <a:ext cx="0" cy="0"/>
          <a:chOff x="0" y="0"/>
          <a:chExt cx="0" cy="0"/>
        </a:xfrm>
      </p:grpSpPr>
      <p:sp>
        <p:nvSpPr>
          <p:cNvPr id="31" name="Google Shape;31;p5"/>
          <p:cNvSpPr/>
          <p:nvPr/>
        </p:nvSpPr>
        <p:spPr>
          <a:xfrm>
            <a:off x="548640" y="457200"/>
            <a:ext cx="804672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3000"/>
              <a:buFont typeface="Calibri"/>
              <a:buNone/>
            </a:pPr>
            <a:r>
              <a:rPr b="1" i="0" lang="en-US" sz="3000" u="none" cap="none" strike="noStrike">
                <a:solidFill>
                  <a:srgbClr val="1A1A1A"/>
                </a:solidFill>
                <a:latin typeface="Calibri"/>
                <a:ea typeface="Calibri"/>
                <a:cs typeface="Calibri"/>
                <a:sym typeface="Calibri"/>
              </a:rPr>
              <a:t>How it works</a:t>
            </a:r>
            <a:endParaRPr b="0" i="0" sz="3000" u="none" cap="none" strike="noStrike">
              <a:solidFill>
                <a:schemeClr val="dk1"/>
              </a:solidFill>
              <a:latin typeface="Calibri"/>
              <a:ea typeface="Calibri"/>
              <a:cs typeface="Calibri"/>
              <a:sym typeface="Calibri"/>
            </a:endParaRPr>
          </a:p>
        </p:txBody>
      </p:sp>
      <p:pic>
        <p:nvPicPr>
          <p:cNvPr descr="/home/claude/rust_logo.png" id="32" name="Google Shape;32;p5"/>
          <p:cNvPicPr preferRelativeResize="0"/>
          <p:nvPr/>
        </p:nvPicPr>
        <p:blipFill rotWithShape="1">
          <a:blip r:embed="rId3">
            <a:alphaModFix/>
          </a:blip>
          <a:srcRect b="0" l="0" r="0" t="0"/>
          <a:stretch/>
        </p:blipFill>
        <p:spPr>
          <a:xfrm>
            <a:off x="777240" y="1371600"/>
            <a:ext cx="713232" cy="713232"/>
          </a:xfrm>
          <a:prstGeom prst="rect">
            <a:avLst/>
          </a:prstGeom>
          <a:noFill/>
          <a:ln>
            <a:noFill/>
          </a:ln>
        </p:spPr>
      </p:pic>
      <p:sp>
        <p:nvSpPr>
          <p:cNvPr id="33" name="Google Shape;33;p5"/>
          <p:cNvSpPr/>
          <p:nvPr/>
        </p:nvSpPr>
        <p:spPr>
          <a:xfrm>
            <a:off x="2057400" y="1188720"/>
            <a:ext cx="6492240" cy="105156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1A1A1A"/>
              </a:buClr>
              <a:buSzPts val="1550"/>
              <a:buFont typeface="Calibri"/>
              <a:buNone/>
            </a:pPr>
            <a:r>
              <a:rPr b="1" i="0" lang="en-US" sz="1550" u="none" cap="none" strike="noStrike">
                <a:solidFill>
                  <a:srgbClr val="1A1A1A"/>
                </a:solidFill>
                <a:latin typeface="Calibri"/>
                <a:ea typeface="Calibri"/>
                <a:cs typeface="Calibri"/>
                <a:sym typeface="Calibri"/>
              </a:rPr>
              <a:t>The runtime</a:t>
            </a:r>
            <a:endParaRPr b="0" i="0" sz="1550" u="none" cap="none" strike="noStrike">
              <a:solidFill>
                <a:schemeClr val="dk1"/>
              </a:solidFill>
              <a:latin typeface="Calibri"/>
              <a:ea typeface="Calibri"/>
              <a:cs typeface="Calibri"/>
              <a:sym typeface="Calibri"/>
            </a:endParaRPr>
          </a:p>
          <a:p>
            <a:pPr indent="0" lvl="0" marL="0" marR="0" rtl="0" algn="l">
              <a:lnSpc>
                <a:spcPct val="108000"/>
              </a:lnSpc>
              <a:spcBef>
                <a:spcPts val="200"/>
              </a:spcBef>
              <a:spcAft>
                <a:spcPts val="0"/>
              </a:spcAft>
              <a:buClr>
                <a:srgbClr val="333333"/>
              </a:buClr>
              <a:buSzPts val="1350"/>
              <a:buFont typeface="Calibri"/>
              <a:buNone/>
            </a:pPr>
            <a:r>
              <a:rPr b="0" i="0" lang="en-US" sz="1350" u="none" cap="none" strike="noStrike">
                <a:solidFill>
                  <a:srgbClr val="333333"/>
                </a:solidFill>
                <a:latin typeface="Calibri"/>
                <a:ea typeface="Calibri"/>
                <a:cs typeface="Calibri"/>
                <a:sym typeface="Calibri"/>
              </a:rPr>
              <a:t>Runs everything with side effects: P2P, RPC, storage, etc.</a:t>
            </a:r>
            <a:endParaRPr b="0" i="0" sz="1550" u="none" cap="none" strike="noStrike">
              <a:solidFill>
                <a:schemeClr val="dk1"/>
              </a:solidFill>
              <a:latin typeface="Calibri"/>
              <a:ea typeface="Calibri"/>
              <a:cs typeface="Calibri"/>
              <a:sym typeface="Calibri"/>
            </a:endParaRPr>
          </a:p>
          <a:p>
            <a:pPr indent="0" lvl="0" marL="0" marR="0" rtl="0" algn="l">
              <a:lnSpc>
                <a:spcPct val="108000"/>
              </a:lnSpc>
              <a:spcBef>
                <a:spcPts val="200"/>
              </a:spcBef>
              <a:spcAft>
                <a:spcPts val="0"/>
              </a:spcAft>
              <a:buClr>
                <a:srgbClr val="888888"/>
              </a:buClr>
              <a:buSzPts val="1300"/>
              <a:buFont typeface="Calibri"/>
              <a:buNone/>
            </a:pPr>
            <a:r>
              <a:rPr b="0" i="0" lang="en-US" sz="1300" u="none" cap="none" strike="noStrike">
                <a:solidFill>
                  <a:srgbClr val="888888"/>
                </a:solidFill>
                <a:latin typeface="Calibri"/>
                <a:ea typeface="Calibri"/>
                <a:cs typeface="Calibri"/>
                <a:sym typeface="Calibri"/>
              </a:rPr>
              <a:t>Memory-safe and concurrent, proven in real clients, and reuses existing code like leanMultisig</a:t>
            </a:r>
            <a:endParaRPr b="0" i="0" sz="1550" u="none" cap="none" strike="noStrike">
              <a:solidFill>
                <a:schemeClr val="dk1"/>
              </a:solidFill>
              <a:latin typeface="Calibri"/>
              <a:ea typeface="Calibri"/>
              <a:cs typeface="Calibri"/>
              <a:sym typeface="Calibri"/>
            </a:endParaRPr>
          </a:p>
        </p:txBody>
      </p:sp>
      <p:pic>
        <p:nvPicPr>
          <p:cNvPr descr="/home/claude/lean_logo.png" id="34" name="Google Shape;34;p5"/>
          <p:cNvPicPr preferRelativeResize="0"/>
          <p:nvPr/>
        </p:nvPicPr>
        <p:blipFill rotWithShape="1">
          <a:blip r:embed="rId4">
            <a:alphaModFix/>
          </a:blip>
          <a:srcRect b="0" l="0" r="0" t="0"/>
          <a:stretch/>
        </p:blipFill>
        <p:spPr>
          <a:xfrm>
            <a:off x="731520" y="2432304"/>
            <a:ext cx="1060704" cy="530352"/>
          </a:xfrm>
          <a:prstGeom prst="rect">
            <a:avLst/>
          </a:prstGeom>
          <a:noFill/>
          <a:ln>
            <a:noFill/>
          </a:ln>
        </p:spPr>
      </p:pic>
      <p:sp>
        <p:nvSpPr>
          <p:cNvPr id="35" name="Google Shape;35;p5"/>
          <p:cNvSpPr/>
          <p:nvPr/>
        </p:nvSpPr>
        <p:spPr>
          <a:xfrm>
            <a:off x="2057400" y="2286000"/>
            <a:ext cx="6492240" cy="105156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1A1A1A"/>
              </a:buClr>
              <a:buSzPts val="1550"/>
              <a:buFont typeface="Calibri"/>
              <a:buNone/>
            </a:pPr>
            <a:r>
              <a:rPr b="1" i="0" lang="en-US" sz="1550" u="none" cap="none" strike="noStrike">
                <a:solidFill>
                  <a:srgbClr val="1A1A1A"/>
                </a:solidFill>
                <a:latin typeface="Calibri"/>
                <a:ea typeface="Calibri"/>
                <a:cs typeface="Calibri"/>
                <a:sym typeface="Calibri"/>
              </a:rPr>
              <a:t>The verified consensus logic</a:t>
            </a:r>
            <a:endParaRPr b="0" i="0" sz="1550" u="none" cap="none" strike="noStrike">
              <a:solidFill>
                <a:schemeClr val="dk1"/>
              </a:solidFill>
              <a:latin typeface="Calibri"/>
              <a:ea typeface="Calibri"/>
              <a:cs typeface="Calibri"/>
              <a:sym typeface="Calibri"/>
            </a:endParaRPr>
          </a:p>
          <a:p>
            <a:pPr indent="0" lvl="0" marL="0" marR="0" rtl="0" algn="l">
              <a:lnSpc>
                <a:spcPct val="108000"/>
              </a:lnSpc>
              <a:spcBef>
                <a:spcPts val="200"/>
              </a:spcBef>
              <a:spcAft>
                <a:spcPts val="0"/>
              </a:spcAft>
              <a:buClr>
                <a:srgbClr val="333333"/>
              </a:buClr>
              <a:buSzPts val="1350"/>
              <a:buFont typeface="Calibri"/>
              <a:buNone/>
            </a:pPr>
            <a:r>
              <a:rPr b="0" i="0" lang="en-US" sz="1350" u="none" cap="none" strike="noStrike">
                <a:solidFill>
                  <a:srgbClr val="333333"/>
                </a:solidFill>
                <a:latin typeface="Calibri"/>
                <a:ea typeface="Calibri"/>
                <a:cs typeface="Calibri"/>
                <a:sym typeface="Calibri"/>
              </a:rPr>
              <a:t>Runs as pure functions: validation, STF, fork choice</a:t>
            </a:r>
            <a:endParaRPr b="0" i="0" sz="1550" u="none" cap="none" strike="noStrike">
              <a:solidFill>
                <a:schemeClr val="dk1"/>
              </a:solidFill>
              <a:latin typeface="Calibri"/>
              <a:ea typeface="Calibri"/>
              <a:cs typeface="Calibri"/>
              <a:sym typeface="Calibri"/>
            </a:endParaRPr>
          </a:p>
          <a:p>
            <a:pPr indent="0" lvl="0" marL="0" marR="0" rtl="0" algn="l">
              <a:lnSpc>
                <a:spcPct val="108000"/>
              </a:lnSpc>
              <a:spcBef>
                <a:spcPts val="200"/>
              </a:spcBef>
              <a:spcAft>
                <a:spcPts val="0"/>
              </a:spcAft>
              <a:buClr>
                <a:srgbClr val="888888"/>
              </a:buClr>
              <a:buSzPts val="1300"/>
              <a:buFont typeface="Calibri"/>
              <a:buNone/>
            </a:pPr>
            <a:r>
              <a:rPr b="0" i="0" lang="en-US" sz="1300" u="none" cap="none" strike="noStrike">
                <a:solidFill>
                  <a:srgbClr val="888888"/>
                </a:solidFill>
                <a:latin typeface="Calibri"/>
                <a:ea typeface="Calibri"/>
                <a:cs typeface="Calibri"/>
                <a:sym typeface="Calibri"/>
              </a:rPr>
              <a:t>This core logic can be mathematically proven correct</a:t>
            </a:r>
            <a:endParaRPr b="0" i="0" sz="1550" u="none" cap="none" strike="noStrike">
              <a:solidFill>
                <a:schemeClr val="dk1"/>
              </a:solidFill>
              <a:latin typeface="Calibri"/>
              <a:ea typeface="Calibri"/>
              <a:cs typeface="Calibri"/>
              <a:sym typeface="Calibri"/>
            </a:endParaRPr>
          </a:p>
        </p:txBody>
      </p:sp>
      <p:sp>
        <p:nvSpPr>
          <p:cNvPr id="36" name="Google Shape;36;p5"/>
          <p:cNvSpPr/>
          <p:nvPr/>
        </p:nvSpPr>
        <p:spPr>
          <a:xfrm>
            <a:off x="822960" y="3456432"/>
            <a:ext cx="7498080" cy="1481328"/>
          </a:xfrm>
          <a:prstGeom prst="rect">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5"/>
          <p:cNvSpPr/>
          <p:nvPr/>
        </p:nvSpPr>
        <p:spPr>
          <a:xfrm>
            <a:off x="1005840" y="3493008"/>
            <a:ext cx="7132320" cy="1417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2222"/>
              </a:buClr>
              <a:buSzPts val="1050"/>
              <a:buFont typeface="Courier New"/>
              <a:buNone/>
            </a:pPr>
            <a:r>
              <a:rPr b="0" i="0" lang="en-US" sz="1050" u="none" cap="none" strike="noStrike">
                <a:solidFill>
                  <a:srgbClr val="222222"/>
                </a:solidFill>
                <a:latin typeface="Courier New"/>
                <a:ea typeface="Courier New"/>
                <a:cs typeface="Courier New"/>
                <a:sym typeface="Courier New"/>
              </a:rPr>
              <a:t>[ P2P / Sync / RPC / Storage / Metrics ]</a:t>
            </a:r>
            <a:endParaRPr b="0" i="0" sz="10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222222"/>
              </a:buClr>
              <a:buSzPts val="1050"/>
              <a:buFont typeface="Courier New"/>
              <a:buNone/>
            </a:pPr>
            <a:r>
              <a:rPr b="0" i="0" lang="en-US" sz="1050" u="none" cap="none" strike="noStrike">
                <a:solidFill>
                  <a:srgbClr val="222222"/>
                </a:solidFill>
                <a:latin typeface="Courier New"/>
                <a:ea typeface="Courier New"/>
                <a:cs typeface="Courier New"/>
                <a:sym typeface="Courier New"/>
              </a:rPr>
              <a:t>Rust</a:t>
            </a:r>
            <a:endParaRPr b="0" i="0" sz="10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222222"/>
              </a:buClr>
              <a:buSzPts val="1050"/>
              <a:buFont typeface="Courier New"/>
              <a:buNone/>
            </a:pPr>
            <a:r>
              <a:rPr b="0" i="0" lang="en-US" sz="1050" u="none" cap="none" strike="noStrike">
                <a:solidFill>
                  <a:srgbClr val="222222"/>
                </a:solidFill>
                <a:latin typeface="Courier New"/>
                <a:ea typeface="Courier New"/>
                <a:cs typeface="Courier New"/>
                <a:sym typeface="Courier New"/>
              </a:rPr>
              <a:t>|</a:t>
            </a:r>
            <a:endParaRPr b="0" i="0" sz="10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222222"/>
              </a:buClr>
              <a:buSzPts val="1050"/>
              <a:buFont typeface="Courier New"/>
              <a:buNone/>
            </a:pPr>
            <a:r>
              <a:rPr b="0" i="0" lang="en-US" sz="1050" u="none" cap="none" strike="noStrike">
                <a:solidFill>
                  <a:srgbClr val="222222"/>
                </a:solidFill>
                <a:latin typeface="Courier New"/>
                <a:ea typeface="Courier New"/>
                <a:cs typeface="Courier New"/>
                <a:sym typeface="Courier New"/>
              </a:rPr>
              <a:t>v</a:t>
            </a:r>
            <a:endParaRPr b="0" i="0" sz="10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222222"/>
              </a:buClr>
              <a:buSzPts val="1050"/>
              <a:buFont typeface="Courier New"/>
              <a:buNone/>
            </a:pPr>
            <a:r>
              <a:rPr b="0" i="0" lang="en-US" sz="1050" u="none" cap="none" strike="noStrike">
                <a:solidFill>
                  <a:srgbClr val="222222"/>
                </a:solidFill>
                <a:latin typeface="Courier New"/>
                <a:ea typeface="Courier New"/>
                <a:cs typeface="Courier New"/>
                <a:sym typeface="Courier New"/>
              </a:rPr>
              <a:t>[ FFI Adapter Layer ]</a:t>
            </a:r>
            <a:endParaRPr b="0" i="0" sz="10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222222"/>
              </a:buClr>
              <a:buSzPts val="1050"/>
              <a:buFont typeface="Courier New"/>
              <a:buNone/>
            </a:pPr>
            <a:r>
              <a:rPr b="0" i="0" lang="en-US" sz="1050" u="none" cap="none" strike="noStrike">
                <a:solidFill>
                  <a:srgbClr val="222222"/>
                </a:solidFill>
                <a:latin typeface="Courier New"/>
                <a:ea typeface="Courier New"/>
                <a:cs typeface="Courier New"/>
                <a:sym typeface="Courier New"/>
              </a:rPr>
              <a:t>|</a:t>
            </a:r>
            <a:endParaRPr b="0" i="0" sz="10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222222"/>
              </a:buClr>
              <a:buSzPts val="1050"/>
              <a:buFont typeface="Courier New"/>
              <a:buNone/>
            </a:pPr>
            <a:r>
              <a:rPr b="0" i="0" lang="en-US" sz="1050" u="none" cap="none" strike="noStrike">
                <a:solidFill>
                  <a:srgbClr val="222222"/>
                </a:solidFill>
                <a:latin typeface="Courier New"/>
                <a:ea typeface="Courier New"/>
                <a:cs typeface="Courier New"/>
                <a:sym typeface="Courier New"/>
              </a:rPr>
              <a:t>v</a:t>
            </a:r>
            <a:endParaRPr b="0" i="0" sz="10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222222"/>
              </a:buClr>
              <a:buSzPts val="1050"/>
              <a:buFont typeface="Courier New"/>
              <a:buNone/>
            </a:pPr>
            <a:r>
              <a:rPr b="0" i="0" lang="en-US" sz="1050" u="none" cap="none" strike="noStrike">
                <a:solidFill>
                  <a:srgbClr val="222222"/>
                </a:solidFill>
                <a:latin typeface="Courier New"/>
                <a:ea typeface="Courier New"/>
                <a:cs typeface="Courier New"/>
                <a:sym typeface="Courier New"/>
              </a:rPr>
              <a:t>[ Validation / STF / Fork Choice ]</a:t>
            </a:r>
            <a:endParaRPr b="0" i="0" sz="10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222222"/>
              </a:buClr>
              <a:buSzPts val="1050"/>
              <a:buFont typeface="Courier New"/>
              <a:buNone/>
            </a:pPr>
            <a:r>
              <a:rPr b="0" i="0" lang="en-US" sz="1050" u="none" cap="none" strike="noStrike">
                <a:solidFill>
                  <a:srgbClr val="222222"/>
                </a:solidFill>
                <a:latin typeface="Courier New"/>
                <a:ea typeface="Courier New"/>
                <a:cs typeface="Courier New"/>
                <a:sym typeface="Courier New"/>
              </a:rPr>
              <a:t>Lean</a:t>
            </a:r>
            <a:endParaRPr b="0" i="0" sz="1050" u="none" cap="none" strike="noStrike">
              <a:solidFill>
                <a:schemeClr val="dk1"/>
              </a:solidFill>
              <a:latin typeface="Calibri"/>
              <a:ea typeface="Calibri"/>
              <a:cs typeface="Calibri"/>
              <a:sym typeface="Calibri"/>
            </a:endParaRPr>
          </a:p>
        </p:txBody>
      </p:sp>
      <p:pic>
        <p:nvPicPr>
          <p:cNvPr id="38" name="Picture 37" descr="nyx_logo.png"/>
          <p:cNvPicPr>
            <a:picLocks noChangeAspect="1"/>
          </p:cNvPicPr>
          <p:nvPr/>
        </p:nvPicPr>
        <p:blipFill>
          <a:blip r:embed="rId5"/>
          <a:stretch>
            <a:fillRect/>
          </a:stretch>
        </p:blipFill>
        <p:spPr>
          <a:xfrm>
            <a:off x="7406640" y="4568286"/>
            <a:ext cx="1463040" cy="31918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 name="Shape 49"/>
        <p:cNvGrpSpPr/>
        <p:nvPr/>
      </p:nvGrpSpPr>
      <p:grpSpPr>
        <a:xfrm>
          <a:off x="0" y="0"/>
          <a:ext cx="0" cy="0"/>
          <a:chOff x="0" y="0"/>
          <a:chExt cx="0" cy="0"/>
        </a:xfrm>
      </p:grpSpPr>
      <p:sp>
        <p:nvSpPr>
          <p:cNvPr id="50" name="Google Shape;50;p7"/>
          <p:cNvSpPr/>
          <p:nvPr/>
        </p:nvSpPr>
        <p:spPr>
          <a:xfrm>
            <a:off x="548640" y="457200"/>
            <a:ext cx="804672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3000"/>
              <a:buFont typeface="Calibri"/>
              <a:buNone/>
            </a:pPr>
            <a:r>
              <a:rPr b="1" i="0" lang="en-US" sz="3000" u="none" cap="none" strike="noStrike">
                <a:solidFill>
                  <a:srgbClr val="1A1A1A"/>
                </a:solidFill>
                <a:latin typeface="Calibri"/>
                <a:ea typeface="Calibri"/>
                <a:cs typeface="Calibri"/>
                <a:sym typeface="Calibri"/>
              </a:rPr>
              <a:t>STF FFI benchmark</a:t>
            </a:r>
            <a:endParaRPr b="0" i="0" sz="3000" u="none" cap="none" strike="noStrike">
              <a:solidFill>
                <a:schemeClr val="dk1"/>
              </a:solidFill>
              <a:latin typeface="Calibri"/>
              <a:ea typeface="Calibri"/>
              <a:cs typeface="Calibri"/>
              <a:sym typeface="Calibri"/>
            </a:endParaRPr>
          </a:p>
        </p:txBody>
      </p:sp>
      <p:pic>
        <p:nvPicPr>
          <p:cNvPr descr="/home/claude/appendix2.png" id="51" name="Google Shape;51;p7"/>
          <p:cNvPicPr preferRelativeResize="0"/>
          <p:nvPr/>
        </p:nvPicPr>
        <p:blipFill rotWithShape="1">
          <a:blip r:embed="rId3">
            <a:alphaModFix/>
          </a:blip>
          <a:srcRect b="0" l="0" r="0" t="0"/>
          <a:stretch/>
        </p:blipFill>
        <p:spPr>
          <a:xfrm>
            <a:off x="1170432" y="1097280"/>
            <a:ext cx="6794751" cy="3931920"/>
          </a:xfrm>
          <a:prstGeom prst="rect">
            <a:avLst/>
          </a:prstGeom>
          <a:noFill/>
          <a:ln>
            <a:noFill/>
          </a:ln>
        </p:spPr>
      </p:pic>
      <p:pic>
        <p:nvPicPr>
          <p:cNvPr id="52" name="Picture 51" descr="nyx_logo.png"/>
          <p:cNvPicPr>
            <a:picLocks noChangeAspect="1"/>
          </p:cNvPicPr>
          <p:nvPr/>
        </p:nvPicPr>
        <p:blipFill>
          <a:blip r:embed="rId4"/>
          <a:stretch>
            <a:fillRect/>
          </a:stretch>
        </p:blipFill>
        <p:spPr>
          <a:xfrm>
            <a:off x="7406640" y="4568286"/>
            <a:ext cx="1463040" cy="31918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 name="Shape 42"/>
        <p:cNvGrpSpPr/>
        <p:nvPr/>
      </p:nvGrpSpPr>
      <p:grpSpPr>
        <a:xfrm>
          <a:off x="0" y="0"/>
          <a:ext cx="0" cy="0"/>
          <a:chOff x="0" y="0"/>
          <a:chExt cx="0" cy="0"/>
        </a:xfrm>
      </p:grpSpPr>
      <p:sp>
        <p:nvSpPr>
          <p:cNvPr id="43" name="Google Shape;43;p6"/>
          <p:cNvSpPr/>
          <p:nvPr/>
        </p:nvSpPr>
        <p:spPr>
          <a:xfrm>
            <a:off x="548640" y="457200"/>
            <a:ext cx="804672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3000"/>
              <a:buFont typeface="Calibri"/>
              <a:buNone/>
            </a:pPr>
            <a:r>
              <a:rPr b="1" i="0" lang="en-US" sz="3000" u="none" cap="none" strike="noStrike">
                <a:solidFill>
                  <a:srgbClr val="1A1A1A"/>
                </a:solidFill>
                <a:latin typeface="Calibri"/>
                <a:ea typeface="Calibri"/>
                <a:cs typeface="Calibri"/>
                <a:sym typeface="Calibri"/>
              </a:rPr>
              <a:t>A few concerns about FFI</a:t>
            </a:r>
            <a:endParaRPr b="0" i="0" sz="3000" u="none" cap="none" strike="noStrike">
              <a:solidFill>
                <a:schemeClr val="dk1"/>
              </a:solidFill>
              <a:latin typeface="Calibri"/>
              <a:ea typeface="Calibri"/>
              <a:cs typeface="Calibri"/>
              <a:sym typeface="Calibri"/>
            </a:endParaRPr>
          </a:p>
        </p:txBody>
      </p:sp>
      <p:sp>
        <p:nvSpPr>
          <p:cNvPr id="44" name="Google Shape;44;p6"/>
          <p:cNvSpPr/>
          <p:nvPr/>
        </p:nvSpPr>
        <p:spPr>
          <a:xfrm>
            <a:off x="640080" y="1371600"/>
            <a:ext cx="7863840" cy="329184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15000"/>
              </a:lnSpc>
              <a:spcBef>
                <a:spcPts val="0"/>
              </a:spcBef>
              <a:spcAft>
                <a:spcPts val="0"/>
              </a:spcAft>
              <a:buClr>
                <a:srgbClr val="333333"/>
              </a:buClr>
              <a:buSzPts val="1600"/>
              <a:buFont typeface="Calibri"/>
              <a:buChar char="•"/>
            </a:pPr>
            <a:r>
              <a:rPr b="0" i="0" lang="en-US" sz="1600" u="none" cap="none" strike="noStrike">
                <a:solidFill>
                  <a:srgbClr val="333333"/>
                </a:solidFill>
                <a:latin typeface="Calibri"/>
                <a:ea typeface="Calibri"/>
                <a:cs typeface="Calibri"/>
                <a:sym typeface="Calibri"/>
              </a:rPr>
              <a:t>Connecting Lean and Rust must be both safe and efficient. Three issues:</a:t>
            </a:r>
            <a:endParaRPr b="0" i="0" sz="1600" u="none" cap="none" strike="noStrike">
              <a:solidFill>
                <a:schemeClr val="dk1"/>
              </a:solidFill>
              <a:latin typeface="Calibri"/>
              <a:ea typeface="Calibri"/>
              <a:cs typeface="Calibri"/>
              <a:sym typeface="Calibri"/>
            </a:endParaRPr>
          </a:p>
          <a:p>
            <a:pPr indent="-342900" lvl="1" marL="685800" marR="0" rtl="0" algn="l">
              <a:lnSpc>
                <a:spcPct val="115000"/>
              </a:lnSpc>
              <a:spcBef>
                <a:spcPts val="1400"/>
              </a:spcBef>
              <a:spcAft>
                <a:spcPts val="0"/>
              </a:spcAft>
              <a:buClr>
                <a:srgbClr val="333333"/>
              </a:buClr>
              <a:buSzPts val="1600"/>
              <a:buFont typeface="Calibri"/>
              <a:buAutoNum type="arabicPeriod"/>
            </a:pPr>
            <a:r>
              <a:rPr b="0" i="0" lang="en-US" sz="1600" u="none" cap="none" strike="noStrike">
                <a:solidFill>
                  <a:srgbClr val="333333"/>
                </a:solidFill>
                <a:latin typeface="Calibri"/>
                <a:ea typeface="Calibri"/>
                <a:cs typeface="Calibri"/>
                <a:sym typeface="Calibri"/>
              </a:rPr>
              <a:t>Performance: Lean's runtime must start up, which adds overhead</a:t>
            </a:r>
            <a:endParaRPr b="0" i="0" sz="1600" u="none" cap="none" strike="noStrike">
              <a:solidFill>
                <a:schemeClr val="dk1"/>
              </a:solidFill>
              <a:latin typeface="Calibri"/>
              <a:ea typeface="Calibri"/>
              <a:cs typeface="Calibri"/>
              <a:sym typeface="Calibri"/>
            </a:endParaRPr>
          </a:p>
          <a:p>
            <a:pPr indent="-342900" lvl="1" marL="685800" marR="0" rtl="0" algn="l">
              <a:lnSpc>
                <a:spcPct val="115000"/>
              </a:lnSpc>
              <a:spcBef>
                <a:spcPts val="800"/>
              </a:spcBef>
              <a:spcAft>
                <a:spcPts val="0"/>
              </a:spcAft>
              <a:buClr>
                <a:srgbClr val="333333"/>
              </a:buClr>
              <a:buSzPts val="1600"/>
              <a:buFont typeface="Calibri"/>
              <a:buAutoNum type="arabicPeriod"/>
            </a:pPr>
            <a:r>
              <a:rPr b="0" i="0" lang="en-US" sz="1600" u="none" cap="none" strike="noStrike">
                <a:solidFill>
                  <a:srgbClr val="333333"/>
                </a:solidFill>
                <a:latin typeface="Calibri"/>
                <a:ea typeface="Calibri"/>
                <a:cs typeface="Calibri"/>
                <a:sym typeface="Calibri"/>
              </a:rPr>
              <a:t>Memory safety: Lean uses reference counting - a different model from Rust's</a:t>
            </a:r>
            <a:endParaRPr b="0" i="0" sz="1600" u="none" cap="none" strike="noStrike">
              <a:solidFill>
                <a:schemeClr val="dk1"/>
              </a:solidFill>
              <a:latin typeface="Calibri"/>
              <a:ea typeface="Calibri"/>
              <a:cs typeface="Calibri"/>
              <a:sym typeface="Calibri"/>
            </a:endParaRPr>
          </a:p>
          <a:p>
            <a:pPr indent="-342900" lvl="1" marL="685800" marR="0" rtl="0" algn="l">
              <a:lnSpc>
                <a:spcPct val="115000"/>
              </a:lnSpc>
              <a:spcBef>
                <a:spcPts val="800"/>
              </a:spcBef>
              <a:spcAft>
                <a:spcPts val="0"/>
              </a:spcAft>
              <a:buClr>
                <a:srgbClr val="333333"/>
              </a:buClr>
              <a:buSzPts val="1600"/>
              <a:buFont typeface="Calibri"/>
              <a:buAutoNum type="arabicPeriod"/>
            </a:pPr>
            <a:r>
              <a:rPr b="0" i="0" lang="en-US" sz="1600" u="none" cap="none" strike="noStrike">
                <a:solidFill>
                  <a:srgbClr val="333333"/>
                </a:solidFill>
                <a:latin typeface="Calibri"/>
                <a:ea typeface="Calibri"/>
                <a:cs typeface="Calibri"/>
                <a:sym typeface="Calibri"/>
              </a:rPr>
              <a:t>Interfaces: types like String, Array and Nat can't be passed to Rust directly</a:t>
            </a:r>
            <a:endParaRPr b="0" i="0" sz="1600" u="none" cap="none" strike="noStrike">
              <a:solidFill>
                <a:schemeClr val="dk1"/>
              </a:solidFill>
              <a:latin typeface="Calibri"/>
              <a:ea typeface="Calibri"/>
              <a:cs typeface="Calibri"/>
              <a:sym typeface="Calibri"/>
            </a:endParaRPr>
          </a:p>
          <a:p>
            <a:pPr indent="-342900" lvl="0" marL="342900" marR="0" rtl="0" algn="l">
              <a:lnSpc>
                <a:spcPct val="115000"/>
              </a:lnSpc>
              <a:spcBef>
                <a:spcPts val="1400"/>
              </a:spcBef>
              <a:spcAft>
                <a:spcPts val="0"/>
              </a:spcAft>
              <a:buClr>
                <a:srgbClr val="333333"/>
              </a:buClr>
              <a:buSzPts val="1600"/>
              <a:buFont typeface="Calibri"/>
              <a:buChar char="•"/>
            </a:pPr>
            <a:r>
              <a:rPr b="0" i="0" lang="en-US" sz="1600" u="none" cap="none" strike="noStrike">
                <a:solidFill>
                  <a:srgbClr val="333333"/>
                </a:solidFill>
                <a:latin typeface="Calibri"/>
                <a:ea typeface="Calibri"/>
                <a:cs typeface="Calibri"/>
                <a:sym typeface="Calibri"/>
              </a:rPr>
              <a:t>Design rule: keep calls to a minimum and data formats simple</a:t>
            </a:r>
            <a:endParaRPr b="0" i="0" sz="1600" u="none" cap="none" strike="noStrike">
              <a:solidFill>
                <a:schemeClr val="dk1"/>
              </a:solidFill>
              <a:latin typeface="Calibri"/>
              <a:ea typeface="Calibri"/>
              <a:cs typeface="Calibri"/>
              <a:sym typeface="Calibri"/>
            </a:endParaRPr>
          </a:p>
        </p:txBody>
      </p:sp>
      <p:pic>
        <p:nvPicPr>
          <p:cNvPr id="45" name="Picture 44" descr="nyx_logo.png"/>
          <p:cNvPicPr>
            <a:picLocks noChangeAspect="1"/>
          </p:cNvPicPr>
          <p:nvPr/>
        </p:nvPicPr>
        <p:blipFill>
          <a:blip r:embed="rId3"/>
          <a:stretch>
            <a:fillRect/>
          </a:stretch>
        </p:blipFill>
        <p:spPr>
          <a:xfrm>
            <a:off x="7406640" y="4568286"/>
            <a:ext cx="1463040" cy="31918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 name="Shape 56"/>
        <p:cNvGrpSpPr/>
        <p:nvPr/>
      </p:nvGrpSpPr>
      <p:grpSpPr>
        <a:xfrm>
          <a:off x="0" y="0"/>
          <a:ext cx="0" cy="0"/>
          <a:chOff x="0" y="0"/>
          <a:chExt cx="0" cy="0"/>
        </a:xfrm>
      </p:grpSpPr>
      <p:sp>
        <p:nvSpPr>
          <p:cNvPr id="57" name="Google Shape;57;p8"/>
          <p:cNvSpPr/>
          <p:nvPr/>
        </p:nvSpPr>
        <p:spPr>
          <a:xfrm>
            <a:off x="548640" y="457200"/>
            <a:ext cx="804672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3000"/>
              <a:buFont typeface="Calibri"/>
              <a:buNone/>
            </a:pPr>
            <a:r>
              <a:t/>
            </a:r>
            <a:endParaRPr b="0" i="0" sz="3000" u="none" cap="none" strike="noStrike">
              <a:solidFill>
                <a:schemeClr val="dk1"/>
              </a:solidFill>
              <a:latin typeface="Calibri"/>
              <a:ea typeface="Calibri"/>
              <a:cs typeface="Calibri"/>
              <a:sym typeface="Calibri"/>
            </a:endParaRPr>
          </a:p>
        </p:txBody>
      </p:sp>
      <p:pic>
        <p:nvPicPr>
          <p:cNvPr descr="/home/claude/diagram_light_crop.png" id="58" name="Google Shape;58;p8"/>
          <p:cNvPicPr preferRelativeResize="0"/>
          <p:nvPr/>
        </p:nvPicPr>
        <p:blipFill rotWithShape="1">
          <a:blip r:embed="rId3">
            <a:alphaModFix/>
          </a:blip>
          <a:srcRect b="0" l="0" r="0" t="0"/>
          <a:stretch/>
        </p:blipFill>
        <p:spPr>
          <a:xfrm>
            <a:off x="1010603" y="285750"/>
            <a:ext cx="7122794" cy="4572000"/>
          </a:xfrm>
          <a:prstGeom prst="rect">
            <a:avLst/>
          </a:prstGeom>
          <a:noFill/>
          <a:ln>
            <a:noFill/>
          </a:ln>
        </p:spPr>
      </p:pic>
      <p:pic>
        <p:nvPicPr>
          <p:cNvPr id="59" name="Picture 58" descr="nyx_logo.png"/>
          <p:cNvPicPr>
            <a:picLocks noChangeAspect="1"/>
          </p:cNvPicPr>
          <p:nvPr/>
        </p:nvPicPr>
        <p:blipFill>
          <a:blip r:embed="rId4"/>
          <a:stretch>
            <a:fillRect/>
          </a:stretch>
        </p:blipFill>
        <p:spPr>
          <a:xfrm>
            <a:off x="7406640" y="4568286"/>
            <a:ext cx="1463040" cy="31918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 name="Shape 63"/>
        <p:cNvGrpSpPr/>
        <p:nvPr/>
      </p:nvGrpSpPr>
      <p:grpSpPr>
        <a:xfrm>
          <a:off x="0" y="0"/>
          <a:ext cx="0" cy="0"/>
          <a:chOff x="0" y="0"/>
          <a:chExt cx="0" cy="0"/>
        </a:xfrm>
      </p:grpSpPr>
      <p:sp>
        <p:nvSpPr>
          <p:cNvPr id="64" name="Google Shape;64;p9"/>
          <p:cNvSpPr/>
          <p:nvPr/>
        </p:nvSpPr>
        <p:spPr>
          <a:xfrm>
            <a:off x="548640" y="457200"/>
            <a:ext cx="804672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3000"/>
              <a:buFont typeface="Calibri"/>
              <a:buNone/>
            </a:pPr>
            <a:r>
              <a:rPr b="1" i="0" lang="en-US" sz="3000" u="none" cap="none" strike="noStrike">
                <a:solidFill>
                  <a:srgbClr val="1A1A1A"/>
                </a:solidFill>
                <a:latin typeface="Calibri"/>
                <a:ea typeface="Calibri"/>
                <a:cs typeface="Calibri"/>
                <a:sym typeface="Calibri"/>
              </a:rPr>
              <a:t>Our work</a:t>
            </a:r>
            <a:endParaRPr b="0" i="0" sz="3000" u="none" cap="none" strike="noStrike">
              <a:solidFill>
                <a:schemeClr val="dk1"/>
              </a:solidFill>
              <a:latin typeface="Calibri"/>
              <a:ea typeface="Calibri"/>
              <a:cs typeface="Calibri"/>
              <a:sym typeface="Calibri"/>
            </a:endParaRPr>
          </a:p>
        </p:txBody>
      </p:sp>
      <p:sp>
        <p:nvSpPr>
          <p:cNvPr id="65" name="Google Shape;65;p9"/>
          <p:cNvSpPr/>
          <p:nvPr/>
        </p:nvSpPr>
        <p:spPr>
          <a:xfrm>
            <a:off x="731520" y="1417320"/>
            <a:ext cx="5212080" cy="9601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A1A1A"/>
              </a:buClr>
              <a:buSzPts val="1900"/>
              <a:buFont typeface="Calibri"/>
              <a:buNone/>
            </a:pPr>
            <a:r>
              <a:rPr b="1" i="0" lang="en-US" sz="1900" u="none" cap="none" strike="noStrike">
                <a:solidFill>
                  <a:srgbClr val="1A1A1A"/>
                </a:solidFill>
                <a:latin typeface="Calibri"/>
                <a:ea typeface="Calibri"/>
                <a:cs typeface="Calibri"/>
                <a:sym typeface="Calibri"/>
              </a:rPr>
              <a:t>formal-leanSpec</a:t>
            </a:r>
            <a:endParaRPr b="0" i="0" sz="19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5566AA"/>
              </a:buClr>
              <a:buSzPts val="1250"/>
              <a:buFont typeface="Calibri"/>
              <a:buNone/>
            </a:pPr>
            <a:r>
              <a:rPr b="0" i="0" lang="en-US" sz="1250" u="sng" cap="none" strike="noStrike">
                <a:solidFill>
                  <a:schemeClr val="hlink"/>
                </a:solidFill>
                <a:latin typeface="Calibri"/>
                <a:ea typeface="Calibri"/>
                <a:cs typeface="Calibri"/>
                <a:sym typeface="Calibri"/>
                <a:hlinkClick r:id="rId3"/>
              </a:rPr>
              <a:t>https://github.com/NyxFoundation/formal-leanSpec</a:t>
            </a:r>
            <a:endParaRPr b="0" i="0" sz="19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333333"/>
              </a:buClr>
              <a:buSzPts val="1500"/>
              <a:buFont typeface="Calibri"/>
              <a:buNone/>
            </a:pPr>
            <a:r>
              <a:rPr b="0" i="0" lang="en-US" sz="1500" u="none" cap="none" strike="noStrike">
                <a:solidFill>
                  <a:srgbClr val="333333"/>
                </a:solidFill>
                <a:latin typeface="Calibri"/>
                <a:ea typeface="Calibri"/>
                <a:cs typeface="Calibri"/>
                <a:sym typeface="Calibri"/>
              </a:rPr>
              <a:t>Re-defining the Lean Consensus spec in Lean</a:t>
            </a:r>
            <a:endParaRPr b="0" i="0" sz="1900" u="none" cap="none" strike="noStrike">
              <a:solidFill>
                <a:schemeClr val="dk1"/>
              </a:solidFill>
              <a:latin typeface="Calibri"/>
              <a:ea typeface="Calibri"/>
              <a:cs typeface="Calibri"/>
              <a:sym typeface="Calibri"/>
            </a:endParaRPr>
          </a:p>
        </p:txBody>
      </p:sp>
      <p:sp>
        <p:nvSpPr>
          <p:cNvPr id="66" name="Google Shape;66;p9"/>
          <p:cNvSpPr/>
          <p:nvPr/>
        </p:nvSpPr>
        <p:spPr>
          <a:xfrm>
            <a:off x="731520" y="2514600"/>
            <a:ext cx="5212080" cy="9601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A1A1A"/>
              </a:buClr>
              <a:buSzPts val="1900"/>
              <a:buFont typeface="Calibri"/>
              <a:buNone/>
            </a:pPr>
            <a:r>
              <a:rPr b="1" i="0" lang="en-US" sz="1900" u="none" cap="none" strike="noStrike">
                <a:solidFill>
                  <a:srgbClr val="1A1A1A"/>
                </a:solidFill>
                <a:latin typeface="Calibri"/>
                <a:ea typeface="Calibri"/>
                <a:cs typeface="Calibri"/>
                <a:sym typeface="Calibri"/>
              </a:rPr>
              <a:t>goldfish-fv</a:t>
            </a:r>
            <a:endParaRPr b="0" i="0" sz="19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5566AA"/>
              </a:buClr>
              <a:buSzPts val="1250"/>
              <a:buFont typeface="Calibri"/>
              <a:buNone/>
            </a:pPr>
            <a:r>
              <a:rPr b="0" i="0" lang="en-US" sz="1250" u="sng" cap="none" strike="noStrike">
                <a:solidFill>
                  <a:schemeClr val="hlink"/>
                </a:solidFill>
                <a:latin typeface="Calibri"/>
                <a:ea typeface="Calibri"/>
                <a:cs typeface="Calibri"/>
                <a:sym typeface="Calibri"/>
                <a:hlinkClick r:id="rId4"/>
              </a:rPr>
              <a:t>https://github.com/NyxFoundation/goldfish-fv</a:t>
            </a:r>
            <a:endParaRPr b="0" i="0" sz="19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333333"/>
              </a:buClr>
              <a:buSzPts val="1500"/>
              <a:buFont typeface="Calibri"/>
              <a:buNone/>
            </a:pPr>
            <a:r>
              <a:rPr b="0" i="0" lang="en-US" sz="1500" u="none" cap="none" strike="noStrike">
                <a:solidFill>
                  <a:srgbClr val="333333"/>
                </a:solidFill>
                <a:latin typeface="Calibri"/>
                <a:ea typeface="Calibri"/>
                <a:cs typeface="Calibri"/>
                <a:sym typeface="Calibri"/>
              </a:rPr>
              <a:t>Guaranteeing the safety of Goldfish</a:t>
            </a:r>
            <a:endParaRPr b="0" i="0" sz="1900" u="none" cap="none" strike="noStrike">
              <a:solidFill>
                <a:schemeClr val="dk1"/>
              </a:solidFill>
              <a:latin typeface="Calibri"/>
              <a:ea typeface="Calibri"/>
              <a:cs typeface="Calibri"/>
              <a:sym typeface="Calibri"/>
            </a:endParaRPr>
          </a:p>
        </p:txBody>
      </p:sp>
      <p:sp>
        <p:nvSpPr>
          <p:cNvPr id="67" name="Google Shape;67;p9"/>
          <p:cNvSpPr/>
          <p:nvPr/>
        </p:nvSpPr>
        <p:spPr>
          <a:xfrm>
            <a:off x="731520" y="3611880"/>
            <a:ext cx="5212080" cy="9601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A1A1A"/>
              </a:buClr>
              <a:buSzPts val="1900"/>
              <a:buFont typeface="Calibri"/>
              <a:buNone/>
            </a:pPr>
            <a:r>
              <a:rPr b="1" i="0" lang="en-US" sz="1900" u="none" cap="none" strike="noStrike">
                <a:solidFill>
                  <a:srgbClr val="1A1A1A"/>
                </a:solidFill>
                <a:latin typeface="Calibri"/>
                <a:ea typeface="Calibri"/>
                <a:cs typeface="Calibri"/>
                <a:sym typeface="Calibri"/>
              </a:rPr>
              <a:t>verifiable-stf</a:t>
            </a:r>
            <a:endParaRPr b="0" i="0" sz="19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5566AA"/>
              </a:buClr>
              <a:buSzPts val="1250"/>
              <a:buFont typeface="Calibri"/>
              <a:buNone/>
            </a:pPr>
            <a:r>
              <a:rPr b="0" i="0" lang="en-US" sz="1250" u="sng" cap="none" strike="noStrike">
                <a:solidFill>
                  <a:schemeClr val="hlink"/>
                </a:solidFill>
                <a:latin typeface="Calibri"/>
                <a:ea typeface="Calibri"/>
                <a:cs typeface="Calibri"/>
                <a:sym typeface="Calibri"/>
                <a:hlinkClick r:id="rId5"/>
              </a:rPr>
              <a:t>https://github.com/NyxFoundation/verifiable-stf</a:t>
            </a:r>
            <a:endParaRPr b="0" i="0" sz="19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333333"/>
              </a:buClr>
              <a:buSzPts val="1500"/>
              <a:buFont typeface="Calibri"/>
              <a:buNone/>
            </a:pPr>
            <a:r>
              <a:rPr b="0" i="0" lang="en-US" sz="1500" u="none" cap="none" strike="noStrike">
                <a:solidFill>
                  <a:srgbClr val="333333"/>
                </a:solidFill>
                <a:latin typeface="Calibri"/>
                <a:ea typeface="Calibri"/>
                <a:cs typeface="Calibri"/>
                <a:sym typeface="Calibri"/>
              </a:rPr>
              <a:t>PoC: running a zkVM guest program in Lean</a:t>
            </a:r>
            <a:endParaRPr b="0" i="0" sz="1900" u="none" cap="none" strike="noStrike">
              <a:solidFill>
                <a:schemeClr val="dk1"/>
              </a:solidFill>
              <a:latin typeface="Calibri"/>
              <a:ea typeface="Calibri"/>
              <a:cs typeface="Calibri"/>
              <a:sym typeface="Calibri"/>
            </a:endParaRPr>
          </a:p>
        </p:txBody>
      </p:sp>
      <p:pic>
        <p:nvPicPr>
          <p:cNvPr descr="/home/claude/qrimg-1.png" id="68" name="Google Shape;68;p9"/>
          <p:cNvPicPr preferRelativeResize="0"/>
          <p:nvPr/>
        </p:nvPicPr>
        <p:blipFill rotWithShape="1">
          <a:blip r:embed="rId6">
            <a:alphaModFix/>
          </a:blip>
          <a:srcRect b="0" l="0" r="0" t="0"/>
          <a:stretch/>
        </p:blipFill>
        <p:spPr>
          <a:xfrm>
            <a:off x="6446520" y="1554480"/>
            <a:ext cx="1920240" cy="1920240"/>
          </a:xfrm>
          <a:prstGeom prst="rect">
            <a:avLst/>
          </a:prstGeom>
          <a:noFill/>
          <a:ln>
            <a:noFill/>
          </a:ln>
        </p:spPr>
      </p:pic>
      <p:sp>
        <p:nvSpPr>
          <p:cNvPr id="69" name="Google Shape;69;p9">
            <a:hlinkClick r:id="rId7"/>
          </p:cNvPr>
          <p:cNvSpPr/>
          <p:nvPr/>
        </p:nvSpPr>
        <p:spPr>
          <a:xfrm>
            <a:off x="6080760" y="3520440"/>
            <a:ext cx="265176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566AA"/>
              </a:buClr>
              <a:buSzPts val="1300"/>
              <a:buFont typeface="Calibri"/>
              <a:buNone/>
            </a:pPr>
            <a:r>
              <a:rPr b="0" i="0" lang="en-US" sz="1300" u="sng" cap="none" strike="noStrike">
                <a:solidFill>
                  <a:schemeClr val="hlink"/>
                </a:solidFill>
                <a:latin typeface="Calibri"/>
                <a:ea typeface="Calibri"/>
                <a:cs typeface="Calibri"/>
                <a:sym typeface="Calibri"/>
                <a:hlinkClick r:id="rId8"/>
              </a:rPr>
              <a:t>https://verityclient.com/</a:t>
            </a:r>
            <a:endParaRPr b="0" i="0" sz="1300" u="none" cap="none" strike="noStrike">
              <a:solidFill>
                <a:schemeClr val="dk1"/>
              </a:solidFill>
              <a:latin typeface="Calibri"/>
              <a:ea typeface="Calibri"/>
              <a:cs typeface="Calibri"/>
              <a:sym typeface="Calibri"/>
            </a:endParaRPr>
          </a:p>
        </p:txBody>
      </p:sp>
      <p:pic>
        <p:nvPicPr>
          <p:cNvPr id="70" name="Picture 69" descr="nyx_logo.png"/>
          <p:cNvPicPr>
            <a:picLocks noChangeAspect="1"/>
          </p:cNvPicPr>
          <p:nvPr/>
        </p:nvPicPr>
        <p:blipFill>
          <a:blip r:embed="rId9"/>
          <a:stretch>
            <a:fillRect/>
          </a:stretch>
        </p:blipFill>
        <p:spPr>
          <a:xfrm>
            <a:off x="7406640" y="4568286"/>
            <a:ext cx="1463040" cy="31918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4" name="Shape 74"/>
        <p:cNvGrpSpPr/>
        <p:nvPr/>
      </p:nvGrpSpPr>
      <p:grpSpPr>
        <a:xfrm>
          <a:off x="0" y="0"/>
          <a:ext cx="0" cy="0"/>
          <a:chOff x="0" y="0"/>
          <a:chExt cx="0" cy="0"/>
        </a:xfrm>
      </p:grpSpPr>
      <p:sp>
        <p:nvSpPr>
          <p:cNvPr id="75" name="Google Shape;75;p10"/>
          <p:cNvSpPr/>
          <p:nvPr/>
        </p:nvSpPr>
        <p:spPr>
          <a:xfrm>
            <a:off x="548640" y="457200"/>
            <a:ext cx="804672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3000"/>
              <a:buFont typeface="Calibri"/>
              <a:buNone/>
            </a:pPr>
            <a:r>
              <a:rPr b="1" i="0" lang="en-US" sz="3000" u="none" cap="none" strike="noStrike">
                <a:solidFill>
                  <a:srgbClr val="1A1A1A"/>
                </a:solidFill>
                <a:latin typeface="Calibri"/>
                <a:ea typeface="Calibri"/>
                <a:cs typeface="Calibri"/>
                <a:sym typeface="Calibri"/>
              </a:rPr>
              <a:t>Appendix — STF scaling: baseline + linear</a:t>
            </a:r>
            <a:endParaRPr b="0" i="0" sz="3000" u="none" cap="none" strike="noStrike">
              <a:solidFill>
                <a:schemeClr val="dk1"/>
              </a:solidFill>
              <a:latin typeface="Calibri"/>
              <a:ea typeface="Calibri"/>
              <a:cs typeface="Calibri"/>
              <a:sym typeface="Calibri"/>
            </a:endParaRPr>
          </a:p>
        </p:txBody>
      </p:sp>
      <p:pic>
        <p:nvPicPr>
          <p:cNvPr descr="/home/claude/appendix1.png" id="76" name="Google Shape;76;p10"/>
          <p:cNvPicPr preferRelativeResize="0"/>
          <p:nvPr/>
        </p:nvPicPr>
        <p:blipFill rotWithShape="1">
          <a:blip r:embed="rId3">
            <a:alphaModFix/>
          </a:blip>
          <a:srcRect b="0" l="0" r="0" t="0"/>
          <a:stretch/>
        </p:blipFill>
        <p:spPr>
          <a:xfrm>
            <a:off x="1170432" y="1143000"/>
            <a:ext cx="6715742" cy="3886200"/>
          </a:xfrm>
          <a:prstGeom prst="rect">
            <a:avLst/>
          </a:prstGeom>
          <a:noFill/>
          <a:ln>
            <a:noFill/>
          </a:ln>
        </p:spPr>
      </p:pic>
      <p:pic>
        <p:nvPicPr>
          <p:cNvPr id="77" name="Picture 76" descr="nyx_logo.png"/>
          <p:cNvPicPr>
            <a:picLocks noChangeAspect="1"/>
          </p:cNvPicPr>
          <p:nvPr/>
        </p:nvPicPr>
        <p:blipFill>
          <a:blip r:embed="rId4"/>
          <a:stretch>
            <a:fillRect/>
          </a:stretch>
        </p:blipFill>
        <p:spPr>
          <a:xfrm>
            <a:off x="7406640" y="4568286"/>
            <a:ext cx="1463040" cy="31918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1" name="Shape 81"/>
        <p:cNvGrpSpPr/>
        <p:nvPr/>
      </p:nvGrpSpPr>
      <p:grpSpPr>
        <a:xfrm>
          <a:off x="0" y="0"/>
          <a:ext cx="0" cy="0"/>
          <a:chOff x="0" y="0"/>
          <a:chExt cx="0" cy="0"/>
        </a:xfrm>
      </p:grpSpPr>
      <p:sp>
        <p:nvSpPr>
          <p:cNvPr id="82" name="Google Shape;82;p11"/>
          <p:cNvSpPr/>
          <p:nvPr/>
        </p:nvSpPr>
        <p:spPr>
          <a:xfrm>
            <a:off x="548640" y="457200"/>
            <a:ext cx="804672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3000"/>
              <a:buFont typeface="Calibri"/>
              <a:buNone/>
            </a:pPr>
            <a:r>
              <a:rPr b="1" i="0" lang="en-US" sz="3000" u="none" cap="none" strike="noStrike">
                <a:solidFill>
                  <a:srgbClr val="1A1A1A"/>
                </a:solidFill>
                <a:latin typeface="Calibri"/>
                <a:ea typeface="Calibri"/>
                <a:cs typeface="Calibri"/>
                <a:sym typeface="Calibri"/>
              </a:rPr>
              <a:t>Appendix — STF benchmark (incl. V=1M reference)</a:t>
            </a:r>
            <a:endParaRPr b="0" i="0" sz="3000" u="none" cap="none" strike="noStrike">
              <a:solidFill>
                <a:schemeClr val="dk1"/>
              </a:solidFill>
              <a:latin typeface="Calibri"/>
              <a:ea typeface="Calibri"/>
              <a:cs typeface="Calibri"/>
              <a:sym typeface="Calibri"/>
            </a:endParaRPr>
          </a:p>
        </p:txBody>
      </p:sp>
      <p:pic>
        <p:nvPicPr>
          <p:cNvPr descr="/home/claude/bench_chart.png" id="83" name="Google Shape;83;p11"/>
          <p:cNvPicPr preferRelativeResize="0"/>
          <p:nvPr/>
        </p:nvPicPr>
        <p:blipFill rotWithShape="1">
          <a:blip r:embed="rId3">
            <a:alphaModFix/>
          </a:blip>
          <a:srcRect b="0" l="0" r="0" t="0"/>
          <a:stretch/>
        </p:blipFill>
        <p:spPr>
          <a:xfrm>
            <a:off x="1435608" y="1143000"/>
            <a:ext cx="6272327" cy="3886200"/>
          </a:xfrm>
          <a:prstGeom prst="rect">
            <a:avLst/>
          </a:prstGeom>
          <a:noFill/>
          <a:ln>
            <a:noFill/>
          </a:ln>
        </p:spPr>
      </p:pic>
      <p:pic>
        <p:nvPicPr>
          <p:cNvPr id="84" name="Picture 83" descr="nyx_logo.png"/>
          <p:cNvPicPr>
            <a:picLocks noChangeAspect="1"/>
          </p:cNvPicPr>
          <p:nvPr/>
        </p:nvPicPr>
        <p:blipFill>
          <a:blip r:embed="rId4"/>
          <a:stretch>
            <a:fillRect/>
          </a:stretch>
        </p:blipFill>
        <p:spPr>
          <a:xfrm>
            <a:off x="7406640" y="4568286"/>
            <a:ext cx="1463040" cy="31918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1" name="Shape 81"/>
        <p:cNvGrpSpPr/>
        <p:nvPr/>
      </p:nvGrpSpPr>
      <p:grpSpPr>
        <a:xfrm>
          <a:off x="0" y="0"/>
          <a:ext cx="0" cy="0"/>
          <a:chOff x="0" y="0"/>
          <a:chExt cx="0" cy="0"/>
        </a:xfrm>
      </p:grpSpPr>
      <p:sp>
        <p:nvSpPr>
          <p:cNvPr id="82" name="Google Shape;82;p11"/>
          <p:cNvSpPr/>
          <p:nvPr/>
        </p:nvSpPr>
        <p:spPr>
          <a:xfrm>
            <a:off x="548640" y="457200"/>
            <a:ext cx="804672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3000"/>
              <a:buFont typeface="Calibri"/>
              <a:buNone/>
            </a:pPr>
            <a:r>
              <a:rPr b="1" i="0" lang="en-US" sz="3000" u="none" cap="none" strike="noStrike">
                <a:solidFill>
                  <a:srgbClr val="1A1A1A"/>
                </a:solidFill>
                <a:latin typeface="Calibri"/>
                <a:ea typeface="Calibri"/>
                <a:cs typeface="Calibri"/>
                <a:sym typeface="Calibri"/>
              </a:rPr>
              <a:t>Appendix — STF: FFI (Lean) vs native-Rust</a:t>
            </a:r>
            <a:endParaRPr b="0" i="0" sz="3000" u="none" cap="none" strike="noStrike">
              <a:solidFill>
                <a:schemeClr val="dk1"/>
              </a:solidFill>
              <a:latin typeface="Calibri"/>
              <a:ea typeface="Calibri"/>
              <a:cs typeface="Calibri"/>
              <a:sym typeface="Calibri"/>
            </a:endParaRPr>
          </a:p>
        </p:txBody>
      </p:sp>
      <p:pic>
        <p:nvPicPr>
          <p:cNvPr descr="/home/claude/bench_chart.png" id="83" name="Google Shape;83;p11"/>
          <p:cNvPicPr preferRelativeResize="0"/>
          <p:nvPr/>
        </p:nvPicPr>
        <p:blipFill rotWithShape="1">
          <a:blip r:embed="rId3">
            <a:alphaModFix/>
          </a:blip>
          <a:srcRect b="0" l="0" r="0" t="0"/>
          <a:stretch/>
        </p:blipFill>
        <p:spPr>
          <a:xfrm>
            <a:off x="792000" y="1270000"/>
            <a:ext cx="7560000" cy="4078000"/>
          </a:xfrm>
          <a:prstGeom prst="rect">
            <a:avLst/>
          </a:prstGeom>
          <a:noFill/>
          <a:ln>
            <a:noFill/>
          </a:ln>
        </p:spPr>
      </p:pic>
      <p:pic>
        <p:nvPicPr>
          <p:cNvPr id="84" name="Picture 83" descr="nyx_logo.png"/>
          <p:cNvPicPr>
            <a:picLocks noChangeAspect="1"/>
          </p:cNvPicPr>
          <p:nvPr/>
        </p:nvPicPr>
        <p:blipFill>
          <a:blip r:embed="rId2"/>
          <a:stretch>
            <a:fillRect/>
          </a:stretch>
        </p:blipFill>
        <p:spPr>
          <a:xfrm>
            <a:off x="7406640" y="4568286"/>
            <a:ext cx="1463040" cy="319182"/>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